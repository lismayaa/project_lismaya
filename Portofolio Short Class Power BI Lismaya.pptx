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80" r:id="rId10"/>
    <p:sldId id="278" r:id="rId11"/>
    <p:sldId id="277" r:id="rId12"/>
    <p:sldId id="264" r:id="rId13"/>
    <p:sldId id="265" r:id="rId14"/>
    <p:sldId id="279" r:id="rId15"/>
    <p:sldId id="281" r:id="rId16"/>
    <p:sldId id="282" r:id="rId17"/>
    <p:sldId id="266" r:id="rId18"/>
    <p:sldId id="267" r:id="rId19"/>
    <p:sldId id="268" r:id="rId20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23"/>
      <p:bold r:id="rId24"/>
      <p:italic r:id="rId25"/>
      <p:boldItalic r:id="rId26"/>
    </p:embeddedFont>
    <p:embeddedFont>
      <p:font typeface="Poppins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87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4A41BE-81A2-4638-AC0C-DB72DED5ED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D39C2F-7E1B-F3A5-FDBF-3508A3803A6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32200-D4E0-4A88-AAF8-99B6D1F283CA}" type="datetimeFigureOut">
              <a:rPr lang="en-ID" smtClean="0"/>
              <a:t>02/10/2026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406D3E-55A8-12F1-73AA-34E5E79549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E8E015-3411-30C9-EF4D-B273F0E887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83D7B-CA71-45A6-9F8A-47C2F9534D8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3890470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39c43229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39c43229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39c43229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39c432292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39c43229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39c43229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39c43229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39c43229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5ebea381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5ebea381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9c43229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39c43229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39c43229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39c43229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39c43229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39c43229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48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9c432292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39c432292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3924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39c432292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39c432292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3462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a70913835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fa70913835_1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70913835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a70913835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70913835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a70913835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3899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70913835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a70913835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980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a70913835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a70913835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0629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5615f025c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5615f025c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615f025c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615f025c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39c43229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39c432292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0" name="Google Shape;60;p14" title="Short Class - Data Analyst Microsoft Power BI (14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7" name="Google Shape;67;p15" title="Short Class - Data Analyst Microsoft Power BI (16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3999300" y="67555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Hi!</a:t>
            </a:r>
            <a:endParaRPr sz="4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Namaku…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99300" y="2091550"/>
            <a:ext cx="4998100" cy="342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Nama Lengkap :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Lismaya</a:t>
            </a:r>
            <a:endParaRPr sz="20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Tujuan Mengikuti Bootcamp :</a:t>
            </a:r>
            <a:endParaRPr sz="20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AutoNum type="arabicPeriod"/>
            </a:pP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Menambah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skill di </a:t>
            </a: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bidang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Data Analyst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AutoNum type="arabicPeriod"/>
            </a:pP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Menguasai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perancangan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Dashboard interactive </a:t>
            </a: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khususnya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dengan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tools Power BI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AutoNum type="arabicPeriod"/>
            </a:pP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Menyusun Portfolio </a:t>
            </a: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Bisnis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berbasis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studi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kasus</a:t>
            </a:r>
            <a:r>
              <a:rPr lang="en-US" sz="2000" dirty="0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Cambria" panose="02040503050406030204" pitchFamily="18" charset="0"/>
                <a:ea typeface="Cambria" panose="02040503050406030204" pitchFamily="18" charset="0"/>
                <a:cs typeface="Poppins"/>
                <a:sym typeface="Poppins"/>
              </a:rPr>
              <a:t>nyata</a:t>
            </a:r>
            <a:endParaRPr sz="2000" dirty="0">
              <a:solidFill>
                <a:schemeClr val="dk1"/>
              </a:solidFill>
              <a:latin typeface="Cambria" panose="02040503050406030204" pitchFamily="18" charset="0"/>
              <a:ea typeface="Cambria" panose="02040503050406030204" pitchFamily="18" charset="0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  <p:pic>
        <p:nvPicPr>
          <p:cNvPr id="70" name="Google Shape;70;p15" title="Short Class - Data Analyst Microsoft Power BI (11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6250" y="686436"/>
            <a:ext cx="2852925" cy="356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5648225" y="4741425"/>
            <a:ext cx="3516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3" name="Picture 2" descr="A person in a blue dress&#10;&#10;Description automatically generated">
            <a:extLst>
              <a:ext uri="{FF2B5EF4-FFF2-40B4-BE49-F238E27FC236}">
                <a16:creationId xmlns:a16="http://schemas.microsoft.com/office/drawing/2014/main" id="{97C17458-7D48-3377-4F85-636EBE8F8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70" y="686435"/>
            <a:ext cx="2852919" cy="35661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8" name="Google Shape;78;p16" title="Short Class - Data Analyst Microsoft Power BI (17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 txBox="1"/>
          <p:nvPr/>
        </p:nvSpPr>
        <p:spPr>
          <a:xfrm>
            <a:off x="1806753" y="438433"/>
            <a:ext cx="5680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Skill Yang Dikuasai</a:t>
            </a:r>
            <a:endParaRPr sz="4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1217025" y="1646850"/>
            <a:ext cx="365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5234475" y="1646850"/>
            <a:ext cx="3522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00975" y="1232700"/>
            <a:ext cx="3385200" cy="24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d" sz="1800" b="1">
                <a:solidFill>
                  <a:schemeClr val="dk1"/>
                </a:solidFill>
              </a:rPr>
              <a:t>Power BI Introduction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d" sz="1800" b="1">
                <a:solidFill>
                  <a:schemeClr val="dk1"/>
                </a:solidFill>
              </a:rPr>
              <a:t>Power Query (Data Preparation)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d" sz="1800" b="1">
                <a:solidFill>
                  <a:schemeClr val="dk1"/>
                </a:solidFill>
              </a:rPr>
              <a:t>Data Transformation Best Practice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d" sz="1800" b="1">
                <a:solidFill>
                  <a:schemeClr val="dk1"/>
                </a:solidFill>
              </a:rPr>
              <a:t>Relationship and Model view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621800" y="1238825"/>
            <a:ext cx="37293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d" sz="1800" b="1">
                <a:solidFill>
                  <a:schemeClr val="dk1"/>
                </a:solidFill>
              </a:rPr>
              <a:t>DAX Fundamental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d" sz="1800" b="1">
                <a:solidFill>
                  <a:schemeClr val="dk1"/>
                </a:solidFill>
              </a:rPr>
              <a:t>DAX Intermediate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d" sz="1800" b="1">
                <a:solidFill>
                  <a:schemeClr val="dk1"/>
                </a:solidFill>
              </a:rPr>
              <a:t>KPI Dashboard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d" sz="1800" b="1">
                <a:solidFill>
                  <a:schemeClr val="dk1"/>
                </a:solidFill>
              </a:rPr>
              <a:t>Interactive Dashboard</a:t>
            </a:r>
            <a:endParaRPr sz="1800" b="1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id" sz="1800" b="1">
                <a:solidFill>
                  <a:schemeClr val="dk1"/>
                </a:solidFill>
              </a:rPr>
              <a:t>Dashboard Design</a:t>
            </a:r>
            <a:endParaRPr sz="18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/>
        </p:nvSpPr>
        <p:spPr>
          <a:xfrm>
            <a:off x="1347350" y="588125"/>
            <a:ext cx="6535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4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Ringkasan Bootcamp</a:t>
            </a:r>
            <a:endParaRPr sz="4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670850" y="1702925"/>
            <a:ext cx="6009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Penyelenggara                : Karirnex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Tanggal                             : 24 dan 26 September 2026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Jam Belajar            : 6 Jam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Jam Mini Project    : 4 Jam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id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Hasil Utama                      : Sertifikat Apresiasi, Mini Project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3231525" y="588150"/>
            <a:ext cx="3368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DUMMY DATA</a:t>
            </a:r>
            <a:endParaRPr sz="30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" name="Picture 10" descr="A close up of words&#10;&#10;Description automatically generated">
            <a:extLst>
              <a:ext uri="{FF2B5EF4-FFF2-40B4-BE49-F238E27FC236}">
                <a16:creationId xmlns:a16="http://schemas.microsoft.com/office/drawing/2014/main" id="{8A66EF49-9C2C-88CA-C6D6-0FE802DFC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43" y="1234650"/>
            <a:ext cx="3890282" cy="71437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3" name="Picture 12" descr="A screenshot of a spreadsheet&#10;&#10;Description automatically generated">
            <a:extLst>
              <a:ext uri="{FF2B5EF4-FFF2-40B4-BE49-F238E27FC236}">
                <a16:creationId xmlns:a16="http://schemas.microsoft.com/office/drawing/2014/main" id="{18D7DBBA-6A71-32DA-B228-5FF210E75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43" y="2204358"/>
            <a:ext cx="5098596" cy="23792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5" name="Picture 14" descr="A table with text on it&#10;&#10;Description automatically generated">
            <a:extLst>
              <a:ext uri="{FF2B5EF4-FFF2-40B4-BE49-F238E27FC236}">
                <a16:creationId xmlns:a16="http://schemas.microsoft.com/office/drawing/2014/main" id="{ED05CEDD-D0DD-F2B9-1614-5491ACE921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4989" y="2204358"/>
            <a:ext cx="3263595" cy="219347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3102143" y="416253"/>
            <a:ext cx="262327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1</a:t>
            </a:r>
            <a:endParaRPr sz="1050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9DEAB-F5A4-DCE0-B24B-2071BCBED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458" y="996355"/>
            <a:ext cx="3180810" cy="1772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D3EFB4-0273-E67C-D3CB-B51E03F62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452" y="996355"/>
            <a:ext cx="3165083" cy="17727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56969E-6818-90A2-1EDD-E435F65801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3781" y="2937734"/>
            <a:ext cx="3191970" cy="17753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FCFD81-37CA-6C50-4281-BEADEDDF6C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298" y="2937734"/>
            <a:ext cx="3191970" cy="1780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3798568" y="478896"/>
            <a:ext cx="2918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2AB0BC-080B-0C68-B13F-1CD87BC43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29" y="956227"/>
            <a:ext cx="7881257" cy="35069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3112800" y="407198"/>
            <a:ext cx="2918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A27299-EDFC-A5EE-A880-C5847CF88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014" y="848876"/>
            <a:ext cx="8479972" cy="39309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693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3037296" y="537376"/>
            <a:ext cx="2623275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1</a:t>
            </a:r>
            <a:endParaRPr sz="1050" dirty="0">
              <a:solidFill>
                <a:schemeClr val="dk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862937-BD11-F9D8-B975-0FFCCDB84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762" y="1152900"/>
            <a:ext cx="6229897" cy="345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505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3787682" y="424451"/>
            <a:ext cx="29184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1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00E83-BBBF-94F5-F0E8-E4AF5B8A5B82}"/>
              </a:ext>
            </a:extLst>
          </p:cNvPr>
          <p:cNvSpPr txBox="1"/>
          <p:nvPr/>
        </p:nvSpPr>
        <p:spPr>
          <a:xfrm>
            <a:off x="76198" y="899530"/>
            <a:ext cx="456111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b="1" dirty="0"/>
              <a:t>1. </a:t>
            </a:r>
            <a:r>
              <a:rPr lang="en-ID" sz="1050" b="1" dirty="0" err="1"/>
              <a:t>Berapa</a:t>
            </a:r>
            <a:r>
              <a:rPr lang="en-ID" sz="1050" b="1" dirty="0"/>
              <a:t> total rows / transactions </a:t>
            </a:r>
            <a:r>
              <a:rPr lang="en-ID" sz="1050" b="1" dirty="0" err="1"/>
              <a:t>setelah</a:t>
            </a:r>
            <a:r>
              <a:rPr lang="en-ID" sz="1050" b="1" dirty="0"/>
              <a:t> </a:t>
            </a:r>
            <a:r>
              <a:rPr lang="en-ID" sz="1050" b="1" dirty="0" err="1"/>
              <a:t>hanya</a:t>
            </a:r>
            <a:r>
              <a:rPr lang="en-ID" sz="1050" b="1" dirty="0"/>
              <a:t> </a:t>
            </a:r>
            <a:r>
              <a:rPr lang="en-ID" sz="1050" b="1" dirty="0" err="1"/>
              <a:t>mengambil</a:t>
            </a:r>
            <a:r>
              <a:rPr lang="en-ID" sz="1050" b="1" dirty="0"/>
              <a:t> </a:t>
            </a:r>
            <a:r>
              <a:rPr lang="en-ID" sz="1050" b="1" dirty="0" err="1"/>
              <a:t>transaksi</a:t>
            </a:r>
            <a:r>
              <a:rPr lang="en-ID" sz="1050" b="1" dirty="0"/>
              <a:t> Paid?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620A24F-4CB9-7BBB-9BFE-0FAD4D65604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1641" b="80565"/>
          <a:stretch/>
        </p:blipFill>
        <p:spPr>
          <a:xfrm>
            <a:off x="174169" y="1330615"/>
            <a:ext cx="4755060" cy="6006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8C9FC3-E1E1-306F-6301-46AB6081C173}"/>
              </a:ext>
            </a:extLst>
          </p:cNvPr>
          <p:cNvSpPr txBox="1"/>
          <p:nvPr/>
        </p:nvSpPr>
        <p:spPr>
          <a:xfrm>
            <a:off x="86077" y="2913159"/>
            <a:ext cx="45611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b="1" dirty="0"/>
              <a:t>3. </a:t>
            </a:r>
            <a:r>
              <a:rPr lang="en-ID" sz="1050" b="1" dirty="0" err="1"/>
              <a:t>Berapa</a:t>
            </a:r>
            <a:r>
              <a:rPr lang="en-ID" sz="1050" b="1" dirty="0"/>
              <a:t> </a:t>
            </a:r>
            <a:r>
              <a:rPr lang="en-ID" sz="1050" b="1" dirty="0" err="1"/>
              <a:t>transaksi</a:t>
            </a:r>
            <a:r>
              <a:rPr lang="en-ID" sz="1050" b="1" dirty="0"/>
              <a:t> </a:t>
            </a:r>
            <a:r>
              <a:rPr lang="en-ID" sz="1050" b="1" dirty="0" err="1"/>
              <a:t>dengan</a:t>
            </a:r>
            <a:r>
              <a:rPr lang="en-ID" sz="1050" b="1" dirty="0"/>
              <a:t> Genre = Drama?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CA7428-5D68-C870-9588-291A43D85010}"/>
              </a:ext>
            </a:extLst>
          </p:cNvPr>
          <p:cNvSpPr txBox="1"/>
          <p:nvPr/>
        </p:nvSpPr>
        <p:spPr>
          <a:xfrm>
            <a:off x="87080" y="2035314"/>
            <a:ext cx="45611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b="1" dirty="0"/>
              <a:t>2. </a:t>
            </a:r>
            <a:r>
              <a:rPr lang="en-US" sz="1050" b="1" dirty="0" err="1"/>
              <a:t>Berapa</a:t>
            </a:r>
            <a:r>
              <a:rPr lang="en-US" sz="1050" b="1" dirty="0"/>
              <a:t> total sales </a:t>
            </a:r>
            <a:r>
              <a:rPr lang="en-US" sz="1050" b="1" dirty="0" err="1"/>
              <a:t>berdasarkan</a:t>
            </a:r>
            <a:r>
              <a:rPr lang="en-US" sz="1050" b="1" dirty="0"/>
              <a:t> </a:t>
            </a:r>
            <a:r>
              <a:rPr lang="en-US" sz="1050" b="1" dirty="0" err="1"/>
              <a:t>total_payment</a:t>
            </a:r>
            <a:r>
              <a:rPr lang="en-US" sz="1050" b="1" dirty="0"/>
              <a:t>?</a:t>
            </a:r>
            <a:endParaRPr lang="en-ID" sz="1050" b="1" dirty="0"/>
          </a:p>
        </p:txBody>
      </p:sp>
      <p:pic>
        <p:nvPicPr>
          <p:cNvPr id="8" name="Picture 7" descr="A white screen with text&#10;&#10;Description automatically generated">
            <a:extLst>
              <a:ext uri="{FF2B5EF4-FFF2-40B4-BE49-F238E27FC236}">
                <a16:creationId xmlns:a16="http://schemas.microsoft.com/office/drawing/2014/main" id="{9777BC21-D741-53A7-1EB3-D53562ACBF4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7636" b="75750"/>
          <a:stretch/>
        </p:blipFill>
        <p:spPr>
          <a:xfrm>
            <a:off x="174167" y="2314270"/>
            <a:ext cx="4755061" cy="4692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white screen with red and blue text&#10;&#10;Description automatically generated">
            <a:extLst>
              <a:ext uri="{FF2B5EF4-FFF2-40B4-BE49-F238E27FC236}">
                <a16:creationId xmlns:a16="http://schemas.microsoft.com/office/drawing/2014/main" id="{6F89E47D-9E0F-0EAC-C8D6-31B0AA2C9E8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8961" b="31786"/>
          <a:stretch/>
        </p:blipFill>
        <p:spPr>
          <a:xfrm>
            <a:off x="216704" y="3436379"/>
            <a:ext cx="4712524" cy="1342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9903B0-23FE-3C4F-725A-926CEAC910AA}"/>
              </a:ext>
            </a:extLst>
          </p:cNvPr>
          <p:cNvSpPr txBox="1"/>
          <p:nvPr/>
        </p:nvSpPr>
        <p:spPr>
          <a:xfrm>
            <a:off x="5029198" y="899530"/>
            <a:ext cx="39406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b="1" dirty="0"/>
              <a:t>5. </a:t>
            </a:r>
            <a:r>
              <a:rPr lang="en-US" sz="1050" b="1" dirty="0" err="1"/>
              <a:t>Berapa</a:t>
            </a:r>
            <a:r>
              <a:rPr lang="en-US" sz="1050" b="1" dirty="0"/>
              <a:t> total sales </a:t>
            </a:r>
            <a:r>
              <a:rPr lang="en-US" sz="1050" b="1" dirty="0" err="1"/>
              <a:t>untuk</a:t>
            </a:r>
            <a:r>
              <a:rPr lang="en-US" sz="1050" b="1" dirty="0"/>
              <a:t> Payment Method = </a:t>
            </a:r>
            <a:r>
              <a:rPr lang="en-US" sz="1050" b="1" dirty="0" err="1"/>
              <a:t>GoPay</a:t>
            </a:r>
            <a:r>
              <a:rPr lang="en-US" sz="1050" b="1" dirty="0"/>
              <a:t>?</a:t>
            </a:r>
            <a:endParaRPr lang="en-ID" sz="105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D2CE64-349A-929E-1EC3-24FA89428CE2}"/>
              </a:ext>
            </a:extLst>
          </p:cNvPr>
          <p:cNvSpPr txBox="1"/>
          <p:nvPr/>
        </p:nvSpPr>
        <p:spPr>
          <a:xfrm>
            <a:off x="76197" y="3174769"/>
            <a:ext cx="45611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b="1" dirty="0"/>
              <a:t>4. </a:t>
            </a:r>
            <a:r>
              <a:rPr lang="nn-NO" sz="1050" b="1" dirty="0"/>
              <a:t>Berapa transaksi dengan Genre = Aksi?</a:t>
            </a:r>
            <a:endParaRPr lang="en-ID" sz="1050" b="1" dirty="0"/>
          </a:p>
        </p:txBody>
      </p:sp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90FFDFAA-2267-46E0-67A4-3D8BBB26964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41385" b="78004"/>
          <a:stretch/>
        </p:blipFill>
        <p:spPr>
          <a:xfrm>
            <a:off x="5118282" y="1348611"/>
            <a:ext cx="3851549" cy="4801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F0CD1B-6939-22A8-C77E-EE31CF534022}"/>
              </a:ext>
            </a:extLst>
          </p:cNvPr>
          <p:cNvSpPr txBox="1"/>
          <p:nvPr/>
        </p:nvSpPr>
        <p:spPr>
          <a:xfrm>
            <a:off x="5029198" y="2052660"/>
            <a:ext cx="39406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b="1" dirty="0"/>
              <a:t>6. </a:t>
            </a:r>
            <a:r>
              <a:rPr lang="en-US" sz="1050" b="1" dirty="0" err="1"/>
              <a:t>Berapa</a:t>
            </a:r>
            <a:r>
              <a:rPr lang="en-US" sz="1050" b="1" dirty="0"/>
              <a:t> total sales </a:t>
            </a:r>
            <a:r>
              <a:rPr lang="en-US" sz="1050" b="1" dirty="0" err="1"/>
              <a:t>untuk</a:t>
            </a:r>
            <a:r>
              <a:rPr lang="en-US" sz="1050" b="1" dirty="0"/>
              <a:t> Channel = Box Office (Offline)?</a:t>
            </a:r>
            <a:endParaRPr lang="en-ID" sz="1050" b="1" dirty="0"/>
          </a:p>
        </p:txBody>
      </p:sp>
      <p:pic>
        <p:nvPicPr>
          <p:cNvPr id="14" name="Picture 13" descr="A screenshot of a computer&#10;&#10;Description automatically generated">
            <a:extLst>
              <a:ext uri="{FF2B5EF4-FFF2-40B4-BE49-F238E27FC236}">
                <a16:creationId xmlns:a16="http://schemas.microsoft.com/office/drawing/2014/main" id="{FBED86C6-22BF-CDF2-A0A6-256D9C5932D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41386" b="73517"/>
          <a:stretch/>
        </p:blipFill>
        <p:spPr>
          <a:xfrm>
            <a:off x="5118282" y="2335258"/>
            <a:ext cx="3851549" cy="5845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EFC2003-FB86-0E60-56D6-425E1CE46C75}"/>
              </a:ext>
            </a:extLst>
          </p:cNvPr>
          <p:cNvSpPr txBox="1"/>
          <p:nvPr/>
        </p:nvSpPr>
        <p:spPr>
          <a:xfrm>
            <a:off x="5025192" y="3030062"/>
            <a:ext cx="394063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b="1" dirty="0"/>
              <a:t>7. </a:t>
            </a:r>
            <a:r>
              <a:rPr lang="en-US" sz="1050" b="1" dirty="0" err="1"/>
              <a:t>Berapa</a:t>
            </a:r>
            <a:r>
              <a:rPr lang="en-US" sz="1050" b="1" dirty="0"/>
              <a:t> </a:t>
            </a:r>
            <a:r>
              <a:rPr lang="en-US" sz="1050" b="1" dirty="0" err="1"/>
              <a:t>transaksi</a:t>
            </a:r>
            <a:r>
              <a:rPr lang="en-US" sz="1050" b="1" dirty="0"/>
              <a:t> yang </a:t>
            </a:r>
            <a:r>
              <a:rPr lang="en-US" sz="1050" b="1" dirty="0" err="1"/>
              <a:t>berasal</a:t>
            </a:r>
            <a:r>
              <a:rPr lang="en-US" sz="1050" b="1" dirty="0"/>
              <a:t> </a:t>
            </a:r>
            <a:r>
              <a:rPr lang="en-US" sz="1050" b="1" dirty="0" err="1"/>
              <a:t>dari</a:t>
            </a:r>
            <a:r>
              <a:rPr lang="en-US" sz="1050" b="1" dirty="0"/>
              <a:t> Studio 3?</a:t>
            </a:r>
            <a:endParaRPr lang="en-ID" sz="105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7B3FCBE-D3E6-4422-5784-17BE20D86D58}"/>
              </a:ext>
            </a:extLst>
          </p:cNvPr>
          <p:cNvSpPr txBox="1"/>
          <p:nvPr/>
        </p:nvSpPr>
        <p:spPr>
          <a:xfrm>
            <a:off x="5025192" y="3753548"/>
            <a:ext cx="394063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50" b="1" dirty="0"/>
              <a:t>8. </a:t>
            </a:r>
            <a:r>
              <a:rPr lang="en-ID" sz="1050" b="1" dirty="0" err="1"/>
              <a:t>Berapa</a:t>
            </a:r>
            <a:r>
              <a:rPr lang="en-ID" sz="1050" b="1" dirty="0"/>
              <a:t> </a:t>
            </a:r>
            <a:r>
              <a:rPr lang="en-ID" sz="1050" b="1" dirty="0" err="1"/>
              <a:t>transaksi</a:t>
            </a:r>
            <a:r>
              <a:rPr lang="en-ID" sz="1050" b="1" dirty="0"/>
              <a:t> </a:t>
            </a:r>
            <a:r>
              <a:rPr lang="en-ID" sz="1050" b="1" dirty="0" err="1"/>
              <a:t>untuk</a:t>
            </a:r>
            <a:r>
              <a:rPr lang="en-ID" sz="1050" b="1" dirty="0"/>
              <a:t> Movie title : Malam </a:t>
            </a:r>
            <a:r>
              <a:rPr lang="en-ID" sz="1050" b="1" dirty="0" err="1"/>
              <a:t>Jumat</a:t>
            </a:r>
            <a:r>
              <a:rPr lang="en-ID" sz="1050" b="1" dirty="0"/>
              <a:t> </a:t>
            </a:r>
            <a:r>
              <a:rPr lang="en-ID" sz="1050" b="1" dirty="0" err="1"/>
              <a:t>Kliwon</a:t>
            </a:r>
            <a:r>
              <a:rPr lang="en-ID" sz="1050" b="1" dirty="0"/>
              <a:t>: </a:t>
            </a:r>
            <a:r>
              <a:rPr lang="en-ID" sz="1050" b="1" dirty="0" err="1"/>
              <a:t>Kutukan</a:t>
            </a:r>
            <a:r>
              <a:rPr lang="en-ID" sz="1050" b="1" dirty="0"/>
              <a:t> </a:t>
            </a:r>
            <a:r>
              <a:rPr lang="en-ID" sz="1050" b="1" dirty="0" err="1"/>
              <a:t>Rumah</a:t>
            </a:r>
            <a:r>
              <a:rPr lang="en-ID" sz="1050" b="1" dirty="0"/>
              <a:t> </a:t>
            </a:r>
            <a:r>
              <a:rPr lang="en-ID" sz="1050" b="1" dirty="0" err="1"/>
              <a:t>Tua</a:t>
            </a:r>
            <a:r>
              <a:rPr lang="en-ID" sz="1050" b="1" dirty="0"/>
              <a:t>?</a:t>
            </a:r>
          </a:p>
        </p:txBody>
      </p:sp>
      <p:pic>
        <p:nvPicPr>
          <p:cNvPr id="17" name="Picture 16" descr="A screenshot of a computer&#10;&#10;Description automatically generated">
            <a:extLst>
              <a:ext uri="{FF2B5EF4-FFF2-40B4-BE49-F238E27FC236}">
                <a16:creationId xmlns:a16="http://schemas.microsoft.com/office/drawing/2014/main" id="{8E8533FF-4EF1-D2FD-4D85-0A65F9C2F81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" t="13496" r="41385" b="69542"/>
          <a:stretch/>
        </p:blipFill>
        <p:spPr>
          <a:xfrm>
            <a:off x="5069735" y="3283978"/>
            <a:ext cx="3896090" cy="384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 descr="A screenshot of a computer&#10;&#10;Description automatically generated">
            <a:extLst>
              <a:ext uri="{FF2B5EF4-FFF2-40B4-BE49-F238E27FC236}">
                <a16:creationId xmlns:a16="http://schemas.microsoft.com/office/drawing/2014/main" id="{0C69A5EE-6D1E-95FC-E0D2-D57D209A983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-1" t="57898" r="41386" b="29320"/>
          <a:stretch/>
        </p:blipFill>
        <p:spPr>
          <a:xfrm>
            <a:off x="5069735" y="4260782"/>
            <a:ext cx="3896090" cy="2785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80680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3072000" y="363203"/>
            <a:ext cx="30000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2</a:t>
            </a: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42575-5346-0B8E-0314-1CE86E2C1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21" y="855615"/>
            <a:ext cx="7644557" cy="3818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-784286" y="87011"/>
            <a:ext cx="2918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0FFE89-1983-8CFE-30A1-2D5211CD7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320" y="757455"/>
            <a:ext cx="6163360" cy="395516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-784286" y="87011"/>
            <a:ext cx="2918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 descr="A screenshot of a computer dashboard&#10;&#10;Description automatically generated">
            <a:extLst>
              <a:ext uri="{FF2B5EF4-FFF2-40B4-BE49-F238E27FC236}">
                <a16:creationId xmlns:a16="http://schemas.microsoft.com/office/drawing/2014/main" id="{A3D08D53-C2A7-218C-22B0-55B0BCF55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8015" y="764978"/>
            <a:ext cx="6267970" cy="396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6725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-784286" y="54354"/>
            <a:ext cx="2918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88BA09-9D6A-F4F7-81B8-6A9B7E5E22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820" y="845928"/>
            <a:ext cx="6246359" cy="390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058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/>
        </p:nvSpPr>
        <p:spPr>
          <a:xfrm>
            <a:off x="-784286" y="87011"/>
            <a:ext cx="29184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sz="20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F939C7-B7BA-06FA-CC5B-26A321635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5282" y="775366"/>
            <a:ext cx="6233435" cy="40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954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>
            <a:off x="3070075" y="950475"/>
            <a:ext cx="5492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1">
                <a:solidFill>
                  <a:schemeClr val="lt1"/>
                </a:solidFill>
              </a:rPr>
              <a:t>Lampiran Penugasan </a:t>
            </a:r>
            <a:endParaRPr sz="1800" b="1">
              <a:solidFill>
                <a:schemeClr val="lt1"/>
              </a:solidFill>
            </a:endParaRP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1840781B-6A09-102E-47ED-D917E56E4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093" y="1567543"/>
            <a:ext cx="2256064" cy="22560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>
            <a:off x="3067837" y="586733"/>
            <a:ext cx="515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 b="1" dirty="0">
                <a:solidFill>
                  <a:schemeClr val="lt1"/>
                </a:solidFill>
              </a:rPr>
              <a:t>Dokumentasi Kegiatan </a:t>
            </a:r>
            <a:endParaRPr sz="1800" b="1" dirty="0">
              <a:solidFill>
                <a:schemeClr val="lt1"/>
              </a:solidFill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C434CEB-40CF-C24B-201E-70F06CF8A8D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096" r="7738"/>
          <a:stretch/>
        </p:blipFill>
        <p:spPr>
          <a:xfrm>
            <a:off x="5935219" y="2782560"/>
            <a:ext cx="2818101" cy="1595193"/>
          </a:xfrm>
          <a:prstGeom prst="rect">
            <a:avLst/>
          </a:prstGeom>
        </p:spPr>
      </p:pic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62B4E67A-11BE-3529-3988-0CBEBCB38E0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3214" r="7381"/>
          <a:stretch/>
        </p:blipFill>
        <p:spPr>
          <a:xfrm>
            <a:off x="3073574" y="1145095"/>
            <a:ext cx="2818101" cy="159041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3861</TotalTime>
  <Words>207</Words>
  <Application>Microsoft Office PowerPoint</Application>
  <PresentationFormat>On-screen Show (16:9)</PresentationFormat>
  <Paragraphs>44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Cambria</vt:lpstr>
      <vt:lpstr>Poppins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LISMAYA</dc:creator>
  <cp:lastModifiedBy>Lismaya - DSV</cp:lastModifiedBy>
  <cp:revision>13</cp:revision>
  <dcterms:modified xsi:type="dcterms:W3CDTF">2026-10-05T05:36:38Z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df3187b-552b-4268-9dcb-6da6655e2747_Enabled">
    <vt:lpwstr>true</vt:lpwstr>
  </property>
  <property fmtid="{D5CDD505-2E9C-101B-9397-08002B2CF9AE}" pid="3" name="MSIP_Label_1df3187b-552b-4268-9dcb-6da6655e2747_SetDate">
    <vt:lpwstr>2026-10-02T08:29:58Z</vt:lpwstr>
  </property>
  <property fmtid="{D5CDD505-2E9C-101B-9397-08002B2CF9AE}" pid="4" name="MSIP_Label_1df3187b-552b-4268-9dcb-6da6655e2747_Method">
    <vt:lpwstr>Privileged</vt:lpwstr>
  </property>
  <property fmtid="{D5CDD505-2E9C-101B-9397-08002B2CF9AE}" pid="5" name="MSIP_Label_1df3187b-552b-4268-9dcb-6da6655e2747_Name">
    <vt:lpwstr>Public</vt:lpwstr>
  </property>
  <property fmtid="{D5CDD505-2E9C-101B-9397-08002B2CF9AE}" pid="6" name="MSIP_Label_1df3187b-552b-4268-9dcb-6da6655e2747_SiteId">
    <vt:lpwstr>4a90c23a-3ece-4ef2-b857-522f23b8204c</vt:lpwstr>
  </property>
  <property fmtid="{D5CDD505-2E9C-101B-9397-08002B2CF9AE}" pid="7" name="MSIP_Label_1df3187b-552b-4268-9dcb-6da6655e2747_ActionId">
    <vt:lpwstr>ed158b6e-8240-40ff-a918-0f5ee095fbb6</vt:lpwstr>
  </property>
  <property fmtid="{D5CDD505-2E9C-101B-9397-08002B2CF9AE}" pid="8" name="MSIP_Label_1df3187b-552b-4268-9dcb-6da6655e2747_ContentBits">
    <vt:lpwstr>2</vt:lpwstr>
  </property>
  <property fmtid="{D5CDD505-2E9C-101B-9397-08002B2CF9AE}" pid="9" name="ClassificationContentMarkingFooterLocations">
    <vt:lpwstr>Simple Light:3</vt:lpwstr>
  </property>
  <property fmtid="{D5CDD505-2E9C-101B-9397-08002B2CF9AE}" pid="10" name="ClassificationContentMarkingFooterText">
    <vt:lpwstr>DSV public</vt:lpwstr>
  </property>
</Properties>
</file>